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7" r:id="rId5"/>
    <p:sldId id="259" r:id="rId6"/>
    <p:sldId id="260" r:id="rId7"/>
    <p:sldId id="261" r:id="rId8"/>
    <p:sldId id="266" r:id="rId9"/>
    <p:sldId id="264" r:id="rId10"/>
    <p:sldId id="262" r:id="rId11"/>
    <p:sldId id="263"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2AE250-CBDD-498B-94C0-48C4BDA66898}" v="451" dt="2025-09-15T12:41:13.0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mj-lt"/>
                <a:cs typeface="+mj-lt"/>
              </a:rPr>
              <a:t>P-571- Apple stock Forecast </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t>Group - 3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0C7C-D875-F845-7135-B9DEE5940DBF}"/>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43FB4622-93EA-CF92-BB6D-D285D124744B}"/>
              </a:ext>
            </a:extLst>
          </p:cNvPr>
          <p:cNvSpPr>
            <a:spLocks noGrp="1"/>
          </p:cNvSpPr>
          <p:nvPr>
            <p:ph idx="1"/>
          </p:nvPr>
        </p:nvSpPr>
        <p:spPr/>
        <p:txBody>
          <a:bodyPr vert="horz" lIns="91440" tIns="45720" rIns="91440" bIns="45720" rtlCol="0" anchor="t">
            <a:normAutofit/>
          </a:bodyPr>
          <a:lstStyle/>
          <a:p>
            <a:endParaRPr lang="en-US" sz="3200" dirty="0"/>
          </a:p>
          <a:p>
            <a:r>
              <a:rPr lang="en-US" sz="3200" dirty="0"/>
              <a:t>The study analyzed Apple's stock performance using seven years of market data from 2012 to 2019, examining daily price movements to identify patterns and trends that could predict future stock behavior</a:t>
            </a:r>
          </a:p>
        </p:txBody>
      </p:sp>
    </p:spTree>
    <p:extLst>
      <p:ext uri="{BB962C8B-B14F-4D97-AF65-F5344CB8AC3E}">
        <p14:creationId xmlns:p14="http://schemas.microsoft.com/office/powerpoint/2010/main" val="3952419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C42D-A732-BD84-12BA-487048484661}"/>
              </a:ext>
            </a:extLst>
          </p:cNvPr>
          <p:cNvSpPr>
            <a:spLocks noGrp="1"/>
          </p:cNvSpPr>
          <p:nvPr>
            <p:ph type="title"/>
          </p:nvPr>
        </p:nvSpPr>
        <p:spPr/>
        <p:txBody>
          <a:bodyPr/>
          <a:lstStyle/>
          <a:p>
            <a:r>
              <a:rPr lang="en-US" dirty="0">
                <a:ea typeface="+mj-lt"/>
                <a:cs typeface="+mj-lt"/>
              </a:rPr>
              <a:t>Business Objective:</a:t>
            </a:r>
          </a:p>
        </p:txBody>
      </p:sp>
      <p:sp>
        <p:nvSpPr>
          <p:cNvPr id="3" name="Content Placeholder 2">
            <a:extLst>
              <a:ext uri="{FF2B5EF4-FFF2-40B4-BE49-F238E27FC236}">
                <a16:creationId xmlns:a16="http://schemas.microsoft.com/office/drawing/2014/main" id="{745137C7-673A-98E2-F60D-3BD565879194}"/>
              </a:ext>
            </a:extLst>
          </p:cNvPr>
          <p:cNvSpPr>
            <a:spLocks noGrp="1"/>
          </p:cNvSpPr>
          <p:nvPr>
            <p:ph idx="1"/>
          </p:nvPr>
        </p:nvSpPr>
        <p:spPr/>
        <p:txBody>
          <a:bodyPr vert="horz" lIns="91440" tIns="45720" rIns="91440" bIns="45720" rtlCol="0" anchor="t">
            <a:normAutofit/>
          </a:bodyPr>
          <a:lstStyle/>
          <a:p>
            <a:r>
              <a:rPr lang="en-US" sz="3200" dirty="0"/>
              <a:t>This project aimed to forecast Apple's stock price for the next 30 days to help investors and business leaders make better financial decisions.</a:t>
            </a:r>
            <a:endParaRPr lang="en-US" dirty="0"/>
          </a:p>
          <a:p>
            <a:endParaRPr lang="en-US"/>
          </a:p>
          <a:p>
            <a:r>
              <a:rPr lang="en-US" sz="3200" dirty="0">
                <a:ea typeface="+mn-lt"/>
                <a:cs typeface="+mn-lt"/>
              </a:rPr>
              <a:t>The analysis focused on understanding how Apple's stock responds to market changes and external events, providing insights into both short-term fluctuations and longer-term investment trends.</a:t>
            </a:r>
            <a:endParaRPr lang="en-US" sz="3200" dirty="0"/>
          </a:p>
        </p:txBody>
      </p:sp>
    </p:spTree>
    <p:extLst>
      <p:ext uri="{BB962C8B-B14F-4D97-AF65-F5344CB8AC3E}">
        <p14:creationId xmlns:p14="http://schemas.microsoft.com/office/powerpoint/2010/main" val="3167662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431D4-E7EE-4FCC-C24C-35B0BA90D2E3}"/>
              </a:ext>
            </a:extLst>
          </p:cNvPr>
          <p:cNvSpPr>
            <a:spLocks noGrp="1"/>
          </p:cNvSpPr>
          <p:nvPr>
            <p:ph type="title"/>
          </p:nvPr>
        </p:nvSpPr>
        <p:spPr/>
        <p:txBody>
          <a:bodyPr/>
          <a:lstStyle/>
          <a:p>
            <a:r>
              <a:rPr lang="en-US" dirty="0"/>
              <a:t>Data Overview:</a:t>
            </a:r>
          </a:p>
        </p:txBody>
      </p:sp>
      <p:sp>
        <p:nvSpPr>
          <p:cNvPr id="3" name="Content Placeholder 2">
            <a:extLst>
              <a:ext uri="{FF2B5EF4-FFF2-40B4-BE49-F238E27FC236}">
                <a16:creationId xmlns:a16="http://schemas.microsoft.com/office/drawing/2014/main" id="{269CEDD8-1CAC-EC89-6733-18EEBFCCA985}"/>
              </a:ext>
            </a:extLst>
          </p:cNvPr>
          <p:cNvSpPr>
            <a:spLocks noGrp="1"/>
          </p:cNvSpPr>
          <p:nvPr>
            <p:ph idx="1"/>
          </p:nvPr>
        </p:nvSpPr>
        <p:spPr>
          <a:xfrm>
            <a:off x="838200" y="1394929"/>
            <a:ext cx="10515600" cy="4351338"/>
          </a:xfrm>
        </p:spPr>
        <p:txBody>
          <a:bodyPr vert="horz" lIns="91440" tIns="45720" rIns="91440" bIns="45720" rtlCol="0" anchor="t">
            <a:noAutofit/>
          </a:bodyPr>
          <a:lstStyle/>
          <a:p>
            <a:r>
              <a:rPr lang="en-US" sz="3000" dirty="0">
                <a:ea typeface="+mn-lt"/>
                <a:cs typeface="+mn-lt"/>
              </a:rPr>
              <a:t> Data we're using for the Apple stock prediction:</a:t>
            </a:r>
            <a:endParaRPr lang="en-US" sz="3000" dirty="0"/>
          </a:p>
          <a:p>
            <a:r>
              <a:rPr lang="en-US" sz="3000" b="1" dirty="0">
                <a:ea typeface="+mn-lt"/>
                <a:cs typeface="+mn-lt"/>
              </a:rPr>
              <a:t>Date:</a:t>
            </a:r>
            <a:r>
              <a:rPr lang="en-US" sz="3000" dirty="0">
                <a:ea typeface="+mn-lt"/>
                <a:cs typeface="+mn-lt"/>
              </a:rPr>
              <a:t> When the trading happened.</a:t>
            </a:r>
            <a:endParaRPr lang="en-US" sz="3000" dirty="0"/>
          </a:p>
          <a:p>
            <a:r>
              <a:rPr lang="en-US" sz="3000" b="1" dirty="0">
                <a:ea typeface="+mn-lt"/>
                <a:cs typeface="+mn-lt"/>
              </a:rPr>
              <a:t>Open:</a:t>
            </a:r>
            <a:r>
              <a:rPr lang="en-US" sz="3000" dirty="0">
                <a:ea typeface="+mn-lt"/>
                <a:cs typeface="+mn-lt"/>
              </a:rPr>
              <a:t> Price at the start of the day.</a:t>
            </a:r>
            <a:endParaRPr lang="en-US" sz="3000" dirty="0"/>
          </a:p>
          <a:p>
            <a:r>
              <a:rPr lang="en-US" sz="3000" b="1" dirty="0">
                <a:ea typeface="+mn-lt"/>
                <a:cs typeface="+mn-lt"/>
              </a:rPr>
              <a:t>High:</a:t>
            </a:r>
            <a:r>
              <a:rPr lang="en-US" sz="3000" dirty="0">
                <a:ea typeface="+mn-lt"/>
                <a:cs typeface="+mn-lt"/>
              </a:rPr>
              <a:t> Highest price during the day.</a:t>
            </a:r>
            <a:endParaRPr lang="en-US" sz="3000" dirty="0"/>
          </a:p>
          <a:p>
            <a:r>
              <a:rPr lang="en-US" sz="3000" b="1" dirty="0">
                <a:ea typeface="+mn-lt"/>
                <a:cs typeface="+mn-lt"/>
              </a:rPr>
              <a:t>Low:</a:t>
            </a:r>
            <a:r>
              <a:rPr lang="en-US" sz="3000" dirty="0">
                <a:ea typeface="+mn-lt"/>
                <a:cs typeface="+mn-lt"/>
              </a:rPr>
              <a:t> Lowest price during the day.</a:t>
            </a:r>
            <a:endParaRPr lang="en-US" sz="3000" dirty="0"/>
          </a:p>
          <a:p>
            <a:r>
              <a:rPr lang="en-US" sz="3000" b="1" dirty="0">
                <a:ea typeface="+mn-lt"/>
                <a:cs typeface="+mn-lt"/>
              </a:rPr>
              <a:t>Close:</a:t>
            </a:r>
            <a:r>
              <a:rPr lang="en-US" sz="3000" dirty="0">
                <a:ea typeface="+mn-lt"/>
                <a:cs typeface="+mn-lt"/>
              </a:rPr>
              <a:t> Price at the end of the day </a:t>
            </a:r>
            <a:endParaRPr lang="en-US" sz="3000" dirty="0"/>
          </a:p>
          <a:p>
            <a:r>
              <a:rPr lang="en-US" sz="3000" b="1" dirty="0">
                <a:ea typeface="+mn-lt"/>
                <a:cs typeface="+mn-lt"/>
              </a:rPr>
              <a:t>Adj Close:</a:t>
            </a:r>
            <a:r>
              <a:rPr lang="en-US" sz="3000" dirty="0">
                <a:ea typeface="+mn-lt"/>
                <a:cs typeface="+mn-lt"/>
              </a:rPr>
              <a:t> Closing price adjusted for things like stock splits.</a:t>
            </a:r>
            <a:endParaRPr lang="en-US" sz="3000" dirty="0"/>
          </a:p>
          <a:p>
            <a:r>
              <a:rPr lang="en-US" sz="3000" b="1" dirty="0">
                <a:ea typeface="+mn-lt"/>
                <a:cs typeface="+mn-lt"/>
              </a:rPr>
              <a:t>Volume:</a:t>
            </a:r>
            <a:r>
              <a:rPr lang="en-US" sz="3000" dirty="0">
                <a:ea typeface="+mn-lt"/>
                <a:cs typeface="+mn-lt"/>
              </a:rPr>
              <a:t> How many shares were traded.</a:t>
            </a:r>
            <a:endParaRPr lang="en-US" sz="3000" dirty="0"/>
          </a:p>
          <a:p>
            <a:r>
              <a:rPr lang="en-US" sz="3000" dirty="0">
                <a:ea typeface="+mn-lt"/>
                <a:cs typeface="+mn-lt"/>
              </a:rPr>
              <a:t>These are the key pieces of information that help us understand the stock's performance each day.</a:t>
            </a:r>
            <a:endParaRPr lang="en-US" sz="3000" dirty="0"/>
          </a:p>
          <a:p>
            <a:endParaRPr lang="en-US" sz="3000" dirty="0"/>
          </a:p>
        </p:txBody>
      </p:sp>
    </p:spTree>
    <p:extLst>
      <p:ext uri="{BB962C8B-B14F-4D97-AF65-F5344CB8AC3E}">
        <p14:creationId xmlns:p14="http://schemas.microsoft.com/office/powerpoint/2010/main" val="3541735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05FB2-20BE-FD50-6D95-A79D517EAC5B}"/>
              </a:ext>
            </a:extLst>
          </p:cNvPr>
          <p:cNvSpPr>
            <a:spLocks noGrp="1"/>
          </p:cNvSpPr>
          <p:nvPr>
            <p:ph type="title"/>
          </p:nvPr>
        </p:nvSpPr>
        <p:spPr/>
        <p:txBody>
          <a:bodyPr/>
          <a:lstStyle/>
          <a:p>
            <a:r>
              <a:rPr lang="en-US" dirty="0">
                <a:ea typeface="+mj-lt"/>
                <a:cs typeface="+mj-lt"/>
              </a:rPr>
              <a:t>Key Insights:</a:t>
            </a:r>
            <a:endParaRPr lang="en-US" dirty="0"/>
          </a:p>
        </p:txBody>
      </p:sp>
      <p:sp>
        <p:nvSpPr>
          <p:cNvPr id="6" name="Content Placeholder 5">
            <a:extLst>
              <a:ext uri="{FF2B5EF4-FFF2-40B4-BE49-F238E27FC236}">
                <a16:creationId xmlns:a16="http://schemas.microsoft.com/office/drawing/2014/main" id="{630B7CDD-C1AE-C071-88BA-2AADCE44743C}"/>
              </a:ext>
            </a:extLst>
          </p:cNvPr>
          <p:cNvSpPr>
            <a:spLocks noGrp="1"/>
          </p:cNvSpPr>
          <p:nvPr>
            <p:ph idx="1"/>
          </p:nvPr>
        </p:nvSpPr>
        <p:spPr/>
        <p:txBody>
          <a:bodyPr vert="horz" lIns="91440" tIns="45720" rIns="91440" bIns="45720" rtlCol="0" anchor="t">
            <a:normAutofit/>
          </a:bodyPr>
          <a:lstStyle/>
          <a:p>
            <a:r>
              <a:rPr lang="en-US" sz="3200" dirty="0">
                <a:ea typeface="+mn-lt"/>
                <a:cs typeface="+mn-lt"/>
              </a:rPr>
              <a:t>Looking at the graph of Apple's stock closing prices from 2012 to 2019, we can see a strong positive trend. This means that over this period, the stock price generally increased, which is a good sign for investors. </a:t>
            </a:r>
            <a:endParaRPr lang="en-US" sz="3200">
              <a:ea typeface="+mn-lt"/>
              <a:cs typeface="+mn-lt"/>
            </a:endParaRPr>
          </a:p>
          <a:p>
            <a:r>
              <a:rPr lang="en-US" sz="3200" dirty="0">
                <a:ea typeface="+mn-lt"/>
                <a:cs typeface="+mn-lt"/>
              </a:rPr>
              <a:t>There are ups and downs along the way, as is normal with any stock, but the overall movement is upwards. This upward trend suggests that the company performed well and investor confidence grew during these years.</a:t>
            </a:r>
            <a:endParaRPr lang="en-US" sz="3200"/>
          </a:p>
        </p:txBody>
      </p:sp>
    </p:spTree>
    <p:extLst>
      <p:ext uri="{BB962C8B-B14F-4D97-AF65-F5344CB8AC3E}">
        <p14:creationId xmlns:p14="http://schemas.microsoft.com/office/powerpoint/2010/main" val="280454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showing a line&#10;&#10;AI-generated content may be incorrect.">
            <a:extLst>
              <a:ext uri="{FF2B5EF4-FFF2-40B4-BE49-F238E27FC236}">
                <a16:creationId xmlns:a16="http://schemas.microsoft.com/office/drawing/2014/main" id="{133BA3A7-FA70-12BD-F6A4-9D9BCF0BE3FC}"/>
              </a:ext>
            </a:extLst>
          </p:cNvPr>
          <p:cNvPicPr>
            <a:picLocks noGrp="1" noChangeAspect="1"/>
          </p:cNvPicPr>
          <p:nvPr>
            <p:ph idx="1"/>
          </p:nvPr>
        </p:nvPicPr>
        <p:blipFill>
          <a:blip r:embed="rId2"/>
          <a:stretch>
            <a:fillRect/>
          </a:stretch>
        </p:blipFill>
        <p:spPr>
          <a:xfrm>
            <a:off x="838200" y="648018"/>
            <a:ext cx="10515600" cy="5563553"/>
          </a:xfrm>
          <a:prstGeom prst="rect">
            <a:avLst/>
          </a:prstGeom>
        </p:spPr>
      </p:pic>
    </p:spTree>
    <p:extLst>
      <p:ext uri="{BB962C8B-B14F-4D97-AF65-F5344CB8AC3E}">
        <p14:creationId xmlns:p14="http://schemas.microsoft.com/office/powerpoint/2010/main" val="2372046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164ECED-7E49-C2DF-13BE-24B2DB5FE4B8}"/>
              </a:ext>
            </a:extLst>
          </p:cNvPr>
          <p:cNvPicPr>
            <a:picLocks noGrp="1" noChangeAspect="1"/>
          </p:cNvPicPr>
          <p:nvPr>
            <p:ph idx="1"/>
          </p:nvPr>
        </p:nvPicPr>
        <p:blipFill>
          <a:blip r:embed="rId2"/>
          <a:srcRect t="50398" r="198"/>
          <a:stretch>
            <a:fillRect/>
          </a:stretch>
        </p:blipFill>
        <p:spPr>
          <a:xfrm>
            <a:off x="2156596" y="636443"/>
            <a:ext cx="7890368" cy="2158359"/>
          </a:xfrm>
          <a:prstGeom prst="rect">
            <a:avLst/>
          </a:prstGeom>
        </p:spPr>
      </p:pic>
      <p:sp>
        <p:nvSpPr>
          <p:cNvPr id="5" name="TextBox 4">
            <a:extLst>
              <a:ext uri="{FF2B5EF4-FFF2-40B4-BE49-F238E27FC236}">
                <a16:creationId xmlns:a16="http://schemas.microsoft.com/office/drawing/2014/main" id="{B5617B76-7F9E-6C83-3AE3-5258B3A2F444}"/>
              </a:ext>
            </a:extLst>
          </p:cNvPr>
          <p:cNvSpPr txBox="1"/>
          <p:nvPr/>
        </p:nvSpPr>
        <p:spPr>
          <a:xfrm>
            <a:off x="1024835" y="3200400"/>
            <a:ext cx="9689547"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dirty="0">
                <a:latin typeface="Google Sans Text"/>
              </a:rPr>
              <a:t> The Seasonal plot highlights patterns repeat around the same time each year. Maybe there's a bump in the stock price after a new iPhone launch.</a:t>
            </a:r>
            <a:endParaRPr lang="en-US" dirty="0"/>
          </a:p>
          <a:p>
            <a:pPr marL="457200" indent="-457200">
              <a:buFont typeface="Arial"/>
              <a:buChar char="•"/>
            </a:pPr>
            <a:r>
              <a:rPr lang="en-US" sz="3200" dirty="0">
                <a:latin typeface="Google Sans Text"/>
              </a:rPr>
              <a:t>Dip during January when Samsung launch their new</a:t>
            </a:r>
            <a:br>
              <a:rPr lang="en-US" sz="3200" dirty="0">
                <a:latin typeface="Google Sans Text"/>
              </a:rPr>
            </a:br>
            <a:r>
              <a:rPr lang="en-US" sz="3200" dirty="0">
                <a:latin typeface="Google Sans Text"/>
              </a:rPr>
              <a:t>smartphone launch. </a:t>
            </a:r>
          </a:p>
          <a:p>
            <a:pPr marL="457200" indent="-457200">
              <a:buFont typeface="Arial"/>
              <a:buChar char="•"/>
            </a:pPr>
            <a:endParaRPr lang="en-US" dirty="0">
              <a:latin typeface="Aptos"/>
            </a:endParaRPr>
          </a:p>
        </p:txBody>
      </p:sp>
    </p:spTree>
    <p:extLst>
      <p:ext uri="{BB962C8B-B14F-4D97-AF65-F5344CB8AC3E}">
        <p14:creationId xmlns:p14="http://schemas.microsoft.com/office/powerpoint/2010/main" val="188269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7A83-9962-5B5B-377C-7496A88D3BF4}"/>
              </a:ext>
            </a:extLst>
          </p:cNvPr>
          <p:cNvSpPr>
            <a:spLocks noGrp="1"/>
          </p:cNvSpPr>
          <p:nvPr>
            <p:ph type="title"/>
          </p:nvPr>
        </p:nvSpPr>
        <p:spPr/>
        <p:txBody>
          <a:bodyPr/>
          <a:lstStyle/>
          <a:p>
            <a:r>
              <a:rPr lang="en-US" dirty="0"/>
              <a:t>Daily Returns:</a:t>
            </a:r>
          </a:p>
        </p:txBody>
      </p:sp>
      <p:pic>
        <p:nvPicPr>
          <p:cNvPr id="4" name="Content Placeholder 3" descr="A blue line graph with numbers&#10;&#10;AI-generated content may be incorrect.">
            <a:extLst>
              <a:ext uri="{FF2B5EF4-FFF2-40B4-BE49-F238E27FC236}">
                <a16:creationId xmlns:a16="http://schemas.microsoft.com/office/drawing/2014/main" id="{4F3158C4-6E5C-E38C-B716-B5000FDE5F37}"/>
              </a:ext>
            </a:extLst>
          </p:cNvPr>
          <p:cNvPicPr>
            <a:picLocks noGrp="1" noChangeAspect="1"/>
          </p:cNvPicPr>
          <p:nvPr>
            <p:ph idx="1"/>
          </p:nvPr>
        </p:nvPicPr>
        <p:blipFill>
          <a:blip r:embed="rId2"/>
          <a:stretch>
            <a:fillRect/>
          </a:stretch>
        </p:blipFill>
        <p:spPr>
          <a:xfrm>
            <a:off x="1885596" y="1693103"/>
            <a:ext cx="8420808" cy="4351338"/>
          </a:xfrm>
          <a:prstGeom prst="rect">
            <a:avLst/>
          </a:prstGeom>
        </p:spPr>
      </p:pic>
    </p:spTree>
    <p:extLst>
      <p:ext uri="{BB962C8B-B14F-4D97-AF65-F5344CB8AC3E}">
        <p14:creationId xmlns:p14="http://schemas.microsoft.com/office/powerpoint/2010/main" val="2226080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10A3F-917B-0242-2224-57EB7DD8B208}"/>
              </a:ext>
            </a:extLst>
          </p:cNvPr>
          <p:cNvSpPr>
            <a:spLocks noGrp="1"/>
          </p:cNvSpPr>
          <p:nvPr>
            <p:ph type="title"/>
          </p:nvPr>
        </p:nvSpPr>
        <p:spPr/>
        <p:txBody>
          <a:bodyPr/>
          <a:lstStyle/>
          <a:p>
            <a:r>
              <a:rPr lang="en-US" dirty="0"/>
              <a:t>Forecast:</a:t>
            </a:r>
          </a:p>
        </p:txBody>
      </p:sp>
      <p:pic>
        <p:nvPicPr>
          <p:cNvPr id="4" name="Content Placeholder 3">
            <a:extLst>
              <a:ext uri="{FF2B5EF4-FFF2-40B4-BE49-F238E27FC236}">
                <a16:creationId xmlns:a16="http://schemas.microsoft.com/office/drawing/2014/main" id="{FFC6851E-7015-8533-0878-4A99B415BDC8}"/>
              </a:ext>
            </a:extLst>
          </p:cNvPr>
          <p:cNvPicPr>
            <a:picLocks noGrp="1" noChangeAspect="1"/>
          </p:cNvPicPr>
          <p:nvPr>
            <p:ph idx="1"/>
          </p:nvPr>
        </p:nvPicPr>
        <p:blipFill>
          <a:blip r:embed="rId2"/>
          <a:stretch>
            <a:fillRect/>
          </a:stretch>
        </p:blipFill>
        <p:spPr>
          <a:xfrm>
            <a:off x="2707252" y="1825625"/>
            <a:ext cx="6777495" cy="4351338"/>
          </a:xfrm>
          <a:prstGeom prst="rect">
            <a:avLst/>
          </a:prstGeom>
        </p:spPr>
      </p:pic>
    </p:spTree>
    <p:extLst>
      <p:ext uri="{BB962C8B-B14F-4D97-AF65-F5344CB8AC3E}">
        <p14:creationId xmlns:p14="http://schemas.microsoft.com/office/powerpoint/2010/main" val="2512919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CF46F-500B-F932-850D-FED1CBB137E5}"/>
              </a:ext>
            </a:extLst>
          </p:cNvPr>
          <p:cNvSpPr>
            <a:spLocks noGrp="1"/>
          </p:cNvSpPr>
          <p:nvPr>
            <p:ph type="title"/>
          </p:nvPr>
        </p:nvSpPr>
        <p:spPr/>
        <p:txBody>
          <a:bodyPr/>
          <a:lstStyle/>
          <a:p>
            <a:r>
              <a:rPr lang="en-US" dirty="0">
                <a:ea typeface="+mj-lt"/>
                <a:cs typeface="+mj-lt"/>
              </a:rPr>
              <a:t>Value to Business:</a:t>
            </a:r>
            <a:endParaRPr lang="en-US" dirty="0"/>
          </a:p>
        </p:txBody>
      </p:sp>
      <p:sp>
        <p:nvSpPr>
          <p:cNvPr id="3" name="Content Placeholder 2">
            <a:extLst>
              <a:ext uri="{FF2B5EF4-FFF2-40B4-BE49-F238E27FC236}">
                <a16:creationId xmlns:a16="http://schemas.microsoft.com/office/drawing/2014/main" id="{58078480-27A2-BF7C-F236-B512FA64EDD0}"/>
              </a:ext>
            </a:extLst>
          </p:cNvPr>
          <p:cNvSpPr>
            <a:spLocks noGrp="1"/>
          </p:cNvSpPr>
          <p:nvPr>
            <p:ph idx="1"/>
          </p:nvPr>
        </p:nvSpPr>
        <p:spPr/>
        <p:txBody>
          <a:bodyPr vert="horz" lIns="91440" tIns="45720" rIns="91440" bIns="45720" rtlCol="0" anchor="t">
            <a:normAutofit/>
          </a:bodyPr>
          <a:lstStyle/>
          <a:p>
            <a:r>
              <a:rPr lang="en-US" sz="3200" dirty="0">
                <a:ea typeface="+mn-lt"/>
                <a:cs typeface="+mn-lt"/>
              </a:rPr>
              <a:t>Strategic Investment Decisions: </a:t>
            </a:r>
            <a:r>
              <a:rPr lang="en-US" sz="3000" dirty="0">
                <a:ea typeface="+mn-lt"/>
                <a:cs typeface="+mn-lt"/>
              </a:rPr>
              <a:t>Apple stock price forecasting enables investors and portfolio managers to make informed timing decisions regarding when to buy, hold, or sell positions. </a:t>
            </a:r>
          </a:p>
          <a:p>
            <a:r>
              <a:rPr lang="en-US" sz="3200" dirty="0">
                <a:ea typeface="+mn-lt"/>
                <a:cs typeface="+mn-lt"/>
              </a:rPr>
              <a:t>Enhanced Risk Management:</a:t>
            </a:r>
            <a:r>
              <a:rPr lang="en-US" sz="3000" dirty="0">
                <a:ea typeface="+mn-lt"/>
                <a:cs typeface="+mn-lt"/>
              </a:rPr>
              <a:t> The 30-day forecast provides advance warning of potential market volatility, allowing investors to adjust portfolio allocations or implement protective strategies before significant price movements occur.</a:t>
            </a:r>
            <a:endParaRPr lang="en-US" sz="3000" dirty="0"/>
          </a:p>
        </p:txBody>
      </p:sp>
    </p:spTree>
    <p:extLst>
      <p:ext uri="{BB962C8B-B14F-4D97-AF65-F5344CB8AC3E}">
        <p14:creationId xmlns:p14="http://schemas.microsoft.com/office/powerpoint/2010/main" val="2026409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3745D-AD4E-778C-0173-B0F1B764490F}"/>
              </a:ext>
            </a:extLst>
          </p:cNvPr>
          <p:cNvSpPr>
            <a:spLocks noGrp="1"/>
          </p:cNvSpPr>
          <p:nvPr>
            <p:ph type="title"/>
          </p:nvPr>
        </p:nvSpPr>
        <p:spPr/>
        <p:txBody>
          <a:bodyPr/>
          <a:lstStyle/>
          <a:p>
            <a:r>
              <a:rPr lang="en-US" dirty="0"/>
              <a:t>Challenges :</a:t>
            </a:r>
          </a:p>
        </p:txBody>
      </p:sp>
      <p:sp>
        <p:nvSpPr>
          <p:cNvPr id="3" name="Content Placeholder 2">
            <a:extLst>
              <a:ext uri="{FF2B5EF4-FFF2-40B4-BE49-F238E27FC236}">
                <a16:creationId xmlns:a16="http://schemas.microsoft.com/office/drawing/2014/main" id="{E8FEE357-FD45-E7E8-34AC-129163361337}"/>
              </a:ext>
            </a:extLst>
          </p:cNvPr>
          <p:cNvSpPr>
            <a:spLocks noGrp="1"/>
          </p:cNvSpPr>
          <p:nvPr>
            <p:ph idx="1"/>
          </p:nvPr>
        </p:nvSpPr>
        <p:spPr>
          <a:xfrm>
            <a:off x="838200" y="1691760"/>
            <a:ext cx="10515600" cy="4351338"/>
          </a:xfrm>
        </p:spPr>
        <p:txBody>
          <a:bodyPr vert="horz" lIns="91440" tIns="45720" rIns="91440" bIns="45720" rtlCol="0" anchor="t">
            <a:noAutofit/>
          </a:bodyPr>
          <a:lstStyle/>
          <a:p>
            <a:r>
              <a:rPr lang="en-US" sz="3000" dirty="0">
                <a:ea typeface="+mn-lt"/>
                <a:cs typeface="+mn-lt"/>
              </a:rPr>
              <a:t>Market Volatility and Unpredictability: Stock markets experience sudden price swings due to economic news, investor sentiment, and global events, making it difficult to create reliable forecasts. Apple's stock can fluctuate dramatically based on product launches, earnings reports, or market rumors.</a:t>
            </a:r>
          </a:p>
          <a:p>
            <a:r>
              <a:rPr lang="en-US" sz="3000" dirty="0">
                <a:ea typeface="+mn-lt"/>
                <a:cs typeface="+mn-lt"/>
              </a:rPr>
              <a:t>Data Quality and Consistency Issues: Historical stock data contain gaps,  or inconsistencies that can affect forecast accuracy. Missing trading days, stock splits, or dividend adjustments can create data challenges that impact model reliability.</a:t>
            </a:r>
          </a:p>
        </p:txBody>
      </p:sp>
    </p:spTree>
    <p:extLst>
      <p:ext uri="{BB962C8B-B14F-4D97-AF65-F5344CB8AC3E}">
        <p14:creationId xmlns:p14="http://schemas.microsoft.com/office/powerpoint/2010/main" val="2981117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EA606-EC15-41ED-E1B4-943636C79E8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475FDD6-A3DB-223E-26FA-5D77D6ED3013}"/>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Apple's stock has shown strong growth and our model can capture this </a:t>
            </a:r>
            <a:r>
              <a:rPr lang="en-US">
                <a:ea typeface="+mn-lt"/>
                <a:cs typeface="+mn-lt"/>
              </a:rPr>
              <a:t>trend over</a:t>
            </a:r>
            <a:r>
              <a:rPr lang="en-US" dirty="0">
                <a:ea typeface="+mn-lt"/>
                <a:cs typeface="+mn-lt"/>
              </a:rPr>
              <a:t> the past several years (2012-2019), Apple's stock price has generally been moving upwards. </a:t>
            </a:r>
          </a:p>
          <a:p>
            <a:r>
              <a:rPr lang="en-US" dirty="0">
                <a:ea typeface="+mn-lt"/>
                <a:cs typeface="+mn-lt"/>
              </a:rPr>
              <a:t> Based on the historical patterns and the model's performance, the forecast suggests the upward trend is likely to continue in the short term. </a:t>
            </a:r>
            <a:endParaRPr lang="en-US">
              <a:ea typeface="+mn-lt"/>
              <a:cs typeface="+mn-lt"/>
            </a:endParaRPr>
          </a:p>
          <a:p>
            <a:r>
              <a:rPr lang="en-US" dirty="0">
                <a:ea typeface="+mn-lt"/>
                <a:cs typeface="+mn-lt"/>
              </a:rPr>
              <a:t>However, it's crucial to remember that this is a prediction based on past data. The stock market can be unpredictable, and unexpected events can always influence prices. So, while the model provides a good estimate, it's not a guarantee of future stock performance.</a:t>
            </a:r>
            <a:endParaRPr lang="en-US" dirty="0"/>
          </a:p>
          <a:p>
            <a:endParaRPr lang="en-US" dirty="0"/>
          </a:p>
          <a:p>
            <a:endParaRPr lang="en-US" dirty="0"/>
          </a:p>
        </p:txBody>
      </p:sp>
    </p:spTree>
    <p:extLst>
      <p:ext uri="{BB962C8B-B14F-4D97-AF65-F5344CB8AC3E}">
        <p14:creationId xmlns:p14="http://schemas.microsoft.com/office/powerpoint/2010/main" val="487249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P-571- Apple stock Forecast </vt:lpstr>
      <vt:lpstr>Abstract:</vt:lpstr>
      <vt:lpstr>Business Objective:</vt:lpstr>
      <vt:lpstr>Data Overview:</vt:lpstr>
      <vt:lpstr>Key Insights:</vt:lpstr>
      <vt:lpstr>PowerPoint Presentation</vt:lpstr>
      <vt:lpstr>PowerPoint Presentation</vt:lpstr>
      <vt:lpstr>Daily Returns:</vt:lpstr>
      <vt:lpstr>Forecast:</vt:lpstr>
      <vt:lpstr>Value to Business:</vt:lpstr>
      <vt:lpstr>Challenges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165</cp:revision>
  <dcterms:created xsi:type="dcterms:W3CDTF">2025-09-15T11:41:25Z</dcterms:created>
  <dcterms:modified xsi:type="dcterms:W3CDTF">2025-09-15T12:41:14Z</dcterms:modified>
</cp:coreProperties>
</file>